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Parkinson's Disease Bioactivity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Chemoinformatics Pipeline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Acquisition &amp; Featurization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Retrieved bioactivity data from ChEMBL for 15 Parkinson's gene targets</a:t>
            </a:r>
          </a:p>
          <a:p>
            <a:pPr/>
            <a:r>
              <a:t>Filtered for Human Single-Protein targets with standard IC50/Ki/EC50 values</a:t>
            </a:r>
          </a:p>
          <a:p>
            <a:pPr/>
            <a:r>
              <a:t>Thresholds applied: Active ≤ 1000 nM, Inactive ≥ 10000 nM</a:t>
            </a:r>
          </a:p>
          <a:p>
            <a:pPr/>
            <a:r>
              <a:t>Removed compounds with conflicting labels to ensure clean training data</a:t>
            </a:r>
          </a:p>
          <a:p>
            <a:pPr/>
            <a:r>
              <a:t>Total Dataset: 35,909 unique compounds across 12 viable gene targets</a:t>
            </a:r>
          </a:p>
          <a:p>
            <a:pPr/>
            <a:r>
              <a:t>Featurization: 1024-bit Morgan Fingerprints (ECFP4) + 7 Physicochemical Descriptors (e.g. MolWt, LogP)</a:t>
            </a:r>
          </a:p>
          <a:p>
            <a:pPr/>
            <a:r>
              <a:t>3 targets (PARKIN, GRIN1_2, PINK1) dropped due to insufficient labeled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Summary (ROC-AUC)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8135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N_total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XGBoost 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Logistic Reg ROC-AUC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t>ADORA2A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0.923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t>CHRM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0.884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t>COMT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0.953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t>DRD1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0.919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t>DRD2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0.885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t>GBA1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0.862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t>GLP1R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0.926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t>LRRK2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0.858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t>MAO_B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0.887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t>SLC18A2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0.953</a:t>
                      </a:r>
                    </a:p>
                  </a:txBody>
                  <a:tcPr/>
                </a:tc>
              </a:tr>
              <a:tr h="28135">
                <a:tc>
                  <a:txBody>
                    <a:bodyPr/>
                    <a:lstStyle/>
                    <a:p>
                      <a:r>
                        <a:t>SLC6A3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0.940</a:t>
                      </a:r>
                    </a:p>
                  </a:txBody>
                  <a:tcPr/>
                </a:tc>
              </a:tr>
              <a:tr h="28140">
                <a:tc>
                  <a:txBody>
                    <a:bodyPr/>
                    <a:lstStyle/>
                    <a:p>
                      <a:r>
                        <a:t>SNCA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Takeaways: XGBoost vs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Both models performed exceptionally well (ROC-AUC consistently &gt; 0.88)</a:t>
            </a:r>
          </a:p>
          <a:p>
            <a:pPr/>
            <a:r>
              <a:t>XGBoost excels in SENSITIVITY (Recall) - catches almost all active compounds</a:t>
            </a:r>
          </a:p>
          <a:p>
            <a:pPr/>
            <a:r>
              <a:t>Logistic Regression excels in SPECIFICITY - slightly more conservative, fewer false positives</a:t>
            </a:r>
          </a:p>
          <a:p>
            <a:pPr/>
            <a:r>
              <a:t>Example on DRD2 (largest target): XGBoost achieved 98.4% Recall vs LR's 93.6%</a:t>
            </a:r>
          </a:p>
          <a:p>
            <a:pPr/>
            <a:r>
              <a:t>Example on DRD2: LR achieved 65.3% Specificity vs XGBoost's 49.8%</a:t>
            </a:r>
          </a:p>
          <a:p>
            <a:pPr/>
            <a:r>
              <a:t>On highly balanced datasets (e.g., MAO_B), XGBoost outperformed LR across all metrics (0.939 vs 0.887 ROC-AUC)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Comparison: DRD2 (Largest Dataset)</a:t>
            </a:r>
          </a:p>
        </p:txBody>
      </p:sp>
      <p:pic>
        <p:nvPicPr>
          <p:cNvPr id="3" name="Picture 2" descr="DRD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114800" cy="4114800"/>
          </a:xfrm>
          <a:prstGeom prst="rect">
            <a:avLst/>
          </a:prstGeom>
        </p:spPr>
      </p:pic>
      <p:pic>
        <p:nvPicPr>
          <p:cNvPr id="4" name="Picture 3" descr="DRD2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6035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035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Logistic Regression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Comparison: LRRK2</a:t>
            </a:r>
          </a:p>
        </p:txBody>
      </p:sp>
      <p:pic>
        <p:nvPicPr>
          <p:cNvPr id="3" name="Picture 2" descr="LRRK2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114800" cy="4114800"/>
          </a:xfrm>
          <a:prstGeom prst="rect">
            <a:avLst/>
          </a:prstGeom>
        </p:spPr>
      </p:pic>
      <p:pic>
        <p:nvPicPr>
          <p:cNvPr id="4" name="Picture 3" descr="LRRK2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6035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035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Logistic Regression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Comparison: MAO_B</a:t>
            </a:r>
          </a:p>
        </p:txBody>
      </p:sp>
      <p:pic>
        <p:nvPicPr>
          <p:cNvPr id="3" name="Picture 2" descr="MAO_B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114800" cy="4114800"/>
          </a:xfrm>
          <a:prstGeom prst="rect">
            <a:avLst/>
          </a:prstGeom>
        </p:spPr>
      </p:pic>
      <p:pic>
        <p:nvPicPr>
          <p:cNvPr id="4" name="Picture 3" descr="MAO_B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6035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035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Logistic 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Downstream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 Screening: Models are ready to predict activity of novel, unsynthesized compounds</a:t>
            </a:r>
          </a:p>
          <a:p>
            <a:pPr/>
            <a:r>
              <a:t>Multi-Target Drug Design: We can screen compounds across all 12 targets to find selective multi-target profiles</a:t>
            </a:r>
          </a:p>
          <a:p>
            <a:pPr/>
            <a:r>
              <a:t>Data Mining: The pipeline has successfully extracted the exact SMILES structures of the most potent known inhibitors for these PD targets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